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5" r:id="rId4"/>
    <p:sldId id="268" r:id="rId5"/>
    <p:sldId id="260" r:id="rId6"/>
    <p:sldId id="261" r:id="rId7"/>
    <p:sldId id="271" r:id="rId8"/>
    <p:sldId id="264" r:id="rId9"/>
    <p:sldId id="267" r:id="rId10"/>
    <p:sldId id="269" r:id="rId11"/>
    <p:sldId id="270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198" y="-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D925-0FCB-93EE-A290-7C7ABBF2B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207650-AC68-16A9-F333-D16812E77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D463D-AF77-DD0E-6545-5DC8BD849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63C28-4BD8-142D-F1C9-7158D6702C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66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27545-19F0-501A-507F-10EFC198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47721-E5F9-A708-2267-9640A86D3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33BAC-68A8-7CF8-848C-286813CCC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8A15B-5FBA-99F6-BD80-CCA9D0CDF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215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B57A1-1BF7-89F0-95AD-7024E120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83BF5-DE1A-C481-F5C0-0896CD364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F04866-EA51-BE9D-829E-4F4406D53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DE22B-7D6C-A620-BFD4-C8308056E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6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07360-92BD-B726-7E11-87B000113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A1E16-AB57-7B27-5E80-EEC201963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738DDE-4E4A-4200-4F1F-C744AA442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AAF70-EF34-B957-1409-B0A72FE6E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81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93AFB-A74D-7A21-20DD-4B28B8C2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015F2-9634-A375-8990-CFC2A53F6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B6E00-DC5C-4775-BCD3-4C1A19988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3FA95-398A-5CAF-4962-C31A409421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39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3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37F78"/>
          </a:solidFill>
          <a:ln w="12700">
            <a:solidFill>
              <a:srgbClr val="137F7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1905488" y="0"/>
            <a:ext cx="286207" cy="6858000"/>
          </a:xfrm>
          <a:prstGeom prst="rect">
            <a:avLst/>
          </a:prstGeom>
          <a:solidFill>
            <a:srgbClr val="137F78"/>
          </a:solidFill>
          <a:ln w="12700">
            <a:solidFill>
              <a:srgbClr val="137F7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3474720" cy="310896"/>
          </a:xfrm>
          <a:prstGeom prst="rect">
            <a:avLst/>
          </a:prstGeom>
          <a:solidFill>
            <a:srgbClr val="BDE7E0"/>
          </a:solidFill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JEFATURAS</a:t>
            </a: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Objetivación del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Informe de Desempeño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y Retroalimentación Funcionaria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Lineamientos para jefes y jefas de servicio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D8E8E1"/>
          </a:solidFill>
          <a:ln w="12700">
            <a:solidFill>
              <a:srgbClr val="D8E8E1"/>
            </a:solidFill>
            <a:prstDash val="solid"/>
          </a:ln>
          <a:effectLst>
            <a:outerShdw blurRad="15240" dist="15240" dir="2700000" algn="bl" rotWithShape="0">
              <a:srgbClr val="AAB6B1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78992" y="432511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0B6F58"/>
                </a:solidFill>
              </a:rPr>
              <a:t>“Evaluar no es solo calificar: es observar, fundamentar,</a:t>
            </a:r>
            <a:endParaRPr lang="en-US" sz="1800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0B6F58"/>
                </a:solidFill>
              </a:rPr>
              <a:t>retroalimentar y dar seguimiento.”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932688"/>
            <a:ext cx="4389120" cy="4443984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9037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¿Qué busca esta propuesta?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949440" y="1874520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168896" y="1810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Unificar criterios de evaluación entre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jefaturas.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949440" y="2624328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168896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Disminuir la subjetividad en los informes de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desempeño.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49440" y="3374136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168896" y="3310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Fortalecer la fundamentación escrita y la </a:t>
            </a:r>
            <a:r>
              <a:rPr lang="en-US" sz="1550" dirty="0" err="1">
                <a:solidFill>
                  <a:srgbClr val="344054"/>
                </a:solidFill>
              </a:rPr>
              <a:t>trazabilidad</a:t>
            </a:r>
            <a:r>
              <a:rPr lang="en-US" sz="1550" dirty="0">
                <a:solidFill>
                  <a:srgbClr val="344054"/>
                </a:solidFill>
              </a:rPr>
              <a:t> del proceso.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949440" y="4123944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7168896" y="40599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Vincular evaluación, </a:t>
            </a:r>
            <a:r>
              <a:rPr lang="en-US" sz="1550" dirty="0" err="1">
                <a:solidFill>
                  <a:srgbClr val="344054"/>
                </a:solidFill>
              </a:rPr>
              <a:t>retroalimentación</a:t>
            </a:r>
            <a:r>
              <a:rPr lang="en-US" sz="1550" dirty="0">
                <a:solidFill>
                  <a:srgbClr val="344054"/>
                </a:solidFill>
              </a:rPr>
              <a:t> y </a:t>
            </a:r>
            <a:r>
              <a:rPr lang="en-US" sz="1550" dirty="0" err="1">
                <a:solidFill>
                  <a:srgbClr val="344054"/>
                </a:solidFill>
              </a:rPr>
              <a:t>mejora</a:t>
            </a:r>
            <a:r>
              <a:rPr lang="en-US" sz="1550" dirty="0">
                <a:solidFill>
                  <a:srgbClr val="344054"/>
                </a:solidFill>
              </a:rPr>
              <a:t> del desempeño.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931152" y="4892040"/>
            <a:ext cx="1078992" cy="292608"/>
          </a:xfrm>
          <a:prstGeom prst="rect">
            <a:avLst/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931152" y="4928616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7F78"/>
                </a:solidFill>
              </a:rPr>
              <a:t>Claridad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19872" y="4892040"/>
            <a:ext cx="1554480" cy="292608"/>
          </a:xfrm>
          <a:prstGeom prst="rect">
            <a:avLst/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8119872" y="4928616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7F78"/>
                </a:solidFill>
              </a:rPr>
              <a:t>Criterio común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784080" y="4892040"/>
            <a:ext cx="1188720" cy="292608"/>
          </a:xfrm>
          <a:prstGeom prst="rect">
            <a:avLst/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784080" y="492861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7F78"/>
                </a:solidFill>
              </a:rPr>
              <a:t>Respaldo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966960" y="5833872"/>
            <a:ext cx="731520" cy="822960"/>
          </a:xfrm>
          <a:prstGeom prst="roundRect">
            <a:avLst>
              <a:gd name="adj" fmla="val 15000"/>
            </a:avLst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10332720" y="5577840"/>
            <a:ext cx="0" cy="603504"/>
          </a:xfrm>
          <a:prstGeom prst="line">
            <a:avLst/>
          </a:prstGeom>
          <a:noFill/>
          <a:ln w="12700">
            <a:solidFill>
              <a:srgbClr val="21B2A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10168128" y="6144768"/>
            <a:ext cx="329184" cy="0"/>
          </a:xfrm>
          <a:prstGeom prst="line">
            <a:avLst/>
          </a:prstGeom>
          <a:noFill/>
          <a:ln w="12700">
            <a:solidFill>
              <a:srgbClr val="137F7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10332720" y="5980176"/>
            <a:ext cx="0" cy="329184"/>
          </a:xfrm>
          <a:prstGeom prst="line">
            <a:avLst/>
          </a:prstGeom>
          <a:noFill/>
          <a:ln w="12700">
            <a:solidFill>
              <a:srgbClr val="137F7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10213848" y="5989320"/>
            <a:ext cx="228600" cy="228600"/>
          </a:xfrm>
          <a:prstGeom prst="line">
            <a:avLst/>
          </a:prstGeom>
          <a:noFill/>
          <a:ln w="12700">
            <a:solidFill>
              <a:srgbClr val="137F7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Objetivo de la presentación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Por qué se propone ordenar y objetivar el proceso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4937760" cy="2035534"/>
          </a:xfrm>
          <a:prstGeom prst="roundRect">
            <a:avLst>
              <a:gd name="adj" fmla="val 3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DE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9728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7F78"/>
                </a:solidFill>
              </a:rPr>
              <a:t>Buscamos que todas las jefaturas evalúen con una misma lógica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319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• criterios claros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• evidencia observable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40142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• mejor respaldo escrito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43616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• seguimiento posterior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1143000"/>
            <a:ext cx="4572000" cy="388620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675120" y="13990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Objetivos operativos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20840" y="1819656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931152" y="1764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Unificar criterios entre jefaturas.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0840" y="2331720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931152" y="227685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Disminuir diferencias de interpretación.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20840" y="2843784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931152" y="27889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Fortalecer la fundamentación de los informes.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20840" y="3355848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931152" y="33009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Vincular la evaluación con la retroalimentación.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20840" y="3867912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931152" y="38130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Promover acciones de mejora y seguimiento.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1248" y="5029200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841248" y="507492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37F78"/>
                </a:solidFill>
              </a:rPr>
              <a:t>Más claridad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2377440" y="5029200"/>
            <a:ext cx="1600200" cy="292608"/>
          </a:xfrm>
          <a:prstGeom prst="roundRect">
            <a:avLst>
              <a:gd name="adj" fmla="val 31250"/>
            </a:avLst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2377440" y="50749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37F78"/>
                </a:solidFill>
              </a:rPr>
              <a:t>Menos subjetividad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096512" y="5029200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4096512" y="507492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37F78"/>
                </a:solidFill>
              </a:rPr>
              <a:t>Mejor gestión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Rol de la jefatura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Qué se espera del jefe o jefa evaluador/a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355080" y="1234440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675120" y="14904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Responsabilidades principales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720840" y="1911096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931152" y="18562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Observar el desempeño durante el período.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2423160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931152" y="236829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Evaluar con criterios uniformes.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20840" y="2935224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931152" y="2880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Fundamentar por escrito sus apreciaciones.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20840" y="3447288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931152" y="339242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Retroalimentar en forma oportuna y respetuosa.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20840" y="3959352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931152" y="39044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Establecer compromisos de mejora cuando corresponda.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20840" y="4471416"/>
            <a:ext cx="118872" cy="118872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931152" y="44165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Dar seguimiento a los acuerdos adoptados.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2926080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DDE6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097280" y="3127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7F78"/>
                </a:solidFill>
              </a:rPr>
              <a:t>Idea fuerza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502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Una buena evaluación no solo califica.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8496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También orienta, corrige y mejora la gestión del equipo.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97280" y="4663440"/>
            <a:ext cx="1280160" cy="292608"/>
          </a:xfrm>
          <a:prstGeom prst="roundRect">
            <a:avLst>
              <a:gd name="adj" fmla="val 31250"/>
            </a:avLst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1097280" y="470916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37F78"/>
                </a:solidFill>
              </a:rPr>
              <a:t>Observa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2514600" y="4663440"/>
            <a:ext cx="1298448" cy="292608"/>
          </a:xfrm>
          <a:prstGeom prst="roundRect">
            <a:avLst>
              <a:gd name="adj" fmla="val 31250"/>
            </a:avLst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2514600" y="4709160"/>
            <a:ext cx="1298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37F78"/>
                </a:solidFill>
              </a:rPr>
              <a:t>Evalúa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3950208" y="4663440"/>
            <a:ext cx="1554480" cy="292608"/>
          </a:xfrm>
          <a:prstGeom prst="roundRect">
            <a:avLst>
              <a:gd name="adj" fmla="val 31250"/>
            </a:avLst>
          </a:prstGeom>
          <a:solidFill>
            <a:srgbClr val="BDE7E0"/>
          </a:solidFill>
          <a:ln w="12700">
            <a:solidFill>
              <a:srgbClr val="BDE7E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950208" y="470916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37F78"/>
                </a:solidFill>
              </a:rPr>
              <a:t>Retroalimenta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1BFA4-1536-23CF-7F23-975BE81F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15DE9D-FE6D-16EA-14D4-F5F47ED6CDC3}"/>
              </a:ext>
            </a:extLst>
          </p:cNvPr>
          <p:cNvSpPr/>
          <p:nvPr/>
        </p:nvSpPr>
        <p:spPr>
          <a:xfrm>
            <a:off x="783601" y="92354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Definición breve de cada factor</a:t>
            </a:r>
            <a:endParaRPr lang="en-US" sz="2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BE13BEC-A395-E8A0-C680-E756C9B40763}"/>
              </a:ext>
            </a:extLst>
          </p:cNvPr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1D185DA-EA51-7376-B2B7-CECBF1D3481F}"/>
              </a:ext>
            </a:extLst>
          </p:cNvPr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FA56E8B-D61A-674F-EC96-668E4DF47F9D}"/>
              </a:ext>
            </a:extLst>
          </p:cNvPr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6</a:t>
            </a:r>
            <a:endParaRPr lang="en-US" sz="10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E7C3C9C6-4871-540D-D64F-1F0764E2E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209" y="580445"/>
            <a:ext cx="5855808" cy="615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14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96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Factores a evaluar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Los 7 factores del informe de desempeño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45720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188720" y="20848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Factores del informe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70432" y="2377440"/>
            <a:ext cx="109728" cy="109728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371600" y="2313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Cantidad de trabajo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70432" y="2852928"/>
            <a:ext cx="109728" cy="109728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371600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Calidad de trabajo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70432" y="3328416"/>
            <a:ext cx="109728" cy="109728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371600" y="3264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Conocimiento del trabajo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70432" y="3803904"/>
            <a:ext cx="109728" cy="109728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371600" y="37398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Interés por el trabajo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70432" y="4279392"/>
            <a:ext cx="109728" cy="109728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371600" y="4215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Capacidad para realizar trabajos en grupo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70432" y="4754880"/>
            <a:ext cx="109728" cy="109728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371600" y="4690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Asistencia y puntualidad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70432" y="5230368"/>
            <a:ext cx="109728" cy="109728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371600" y="5166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Cumplimiento de normas o instrucciones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760720" y="182880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080760" y="2084832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Idea clave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80760" y="25146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A37"/>
                </a:solidFill>
              </a:rPr>
              <a:t>Cada factor debe ser entendido de la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111A37"/>
                </a:solidFill>
              </a:rPr>
              <a:t>misma manera por todas las jefaturas.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6080760" y="3401568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300216" y="3337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Definición breve y clara.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080760" y="3931920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300216" y="3867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Observación de conductas y hechos del período.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080760" y="4462272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300216" y="43982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Respaldo escrito cuando existan notas extremas.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080760" y="4992624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300216" y="49286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344054"/>
                </a:solidFill>
              </a:rPr>
              <a:t>Relación con fortalezas, brechas y compromisos.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01" y="92354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Definición breve de cada factor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Glosario base para evaluar con criterio común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1248" y="178308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115568" y="188724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Factores de desempeño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" y="22402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7F78"/>
                </a:solidFill>
              </a:rPr>
              <a:t>Cantidad de trabajo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15568" y="24597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Volumen de tareas ejecutadas según las exigencias del cargo.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15568" y="3136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7F78"/>
                </a:solidFill>
              </a:rPr>
              <a:t>Calidad de trabajo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15568" y="33558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Precisión, orden, corrección y confiabilidad del resultado.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15568" y="4032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7F78"/>
                </a:solidFill>
              </a:rPr>
              <a:t>Conocimiento del trabajo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15568" y="4251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Dominio de funciones, normas, procesos y herramientas.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15568" y="492861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7F78"/>
                </a:solidFill>
              </a:rPr>
              <a:t>Interés por el trabajo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15568" y="5148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Compromiso, disposición e iniciativa frente a sus labores.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46177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675120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Factores de comportamiento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38544" y="22402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7F78"/>
                </a:solidFill>
              </a:rPr>
              <a:t>Trabajo en grupo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638544" y="24597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Capacidad para colaborar y relacionarse adecuadamente con el equipo.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38544" y="3410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7F78"/>
                </a:solidFill>
              </a:rPr>
              <a:t>Asistencia y puntualidad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38544" y="3630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Cumplimiento del horario, incluyendo atrasos, retorno de colación, ausencias y salidas anticipadas.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638544" y="45811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7F78"/>
                </a:solidFill>
              </a:rPr>
              <a:t>Normas o instrucciones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38544" y="4800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44054"/>
                </a:solidFill>
              </a:rPr>
              <a:t>Respeto de protocolos, directrices y deberes propios del cargo.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C560-9B78-5B3D-4D09-7F12E6557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>
            <a:extLst>
              <a:ext uri="{FF2B5EF4-FFF2-40B4-BE49-F238E27FC236}">
                <a16:creationId xmlns:a16="http://schemas.microsoft.com/office/drawing/2014/main" id="{620C0FDC-F9D2-8C07-5593-4DCEEFFEAD9D}"/>
              </a:ext>
            </a:extLst>
          </p:cNvPr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42C61C74-E4A4-215E-A096-AE8FF0706B0A}"/>
              </a:ext>
            </a:extLst>
          </p:cNvPr>
          <p:cNvSpPr/>
          <p:nvPr/>
        </p:nvSpPr>
        <p:spPr>
          <a:xfrm>
            <a:off x="492162" y="411481"/>
            <a:ext cx="5507915" cy="54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A37"/>
                </a:solidFill>
              </a:rPr>
              <a:t>Ejemplos concretos que pueden justificar una evaluación descendida</a:t>
            </a:r>
            <a:endParaRPr lang="en-US" sz="24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5855B81C-7498-F481-06E0-BDFEE1DA6123}"/>
              </a:ext>
            </a:extLst>
          </p:cNvPr>
          <p:cNvSpPr/>
          <p:nvPr/>
        </p:nvSpPr>
        <p:spPr>
          <a:xfrm>
            <a:off x="492162" y="1143000"/>
            <a:ext cx="5335793" cy="5495545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C7926CDF-40FD-87D2-5DF5-854A040049C5}"/>
              </a:ext>
            </a:extLst>
          </p:cNvPr>
          <p:cNvSpPr/>
          <p:nvPr/>
        </p:nvSpPr>
        <p:spPr>
          <a:xfrm>
            <a:off x="812202" y="1344169"/>
            <a:ext cx="4733365" cy="25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7F78"/>
                </a:solidFill>
              </a:rPr>
              <a:t>Factores de desempeño</a:t>
            </a:r>
            <a:endParaRPr lang="en-US" sz="180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5987D205-A755-1FCC-FE4B-224937139268}"/>
              </a:ext>
            </a:extLst>
          </p:cNvPr>
          <p:cNvSpPr/>
          <p:nvPr/>
        </p:nvSpPr>
        <p:spPr>
          <a:xfrm>
            <a:off x="6435762" y="1143001"/>
            <a:ext cx="5120640" cy="5495544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8B16EE40-C20F-0331-3776-8A9E31D93C5F}"/>
              </a:ext>
            </a:extLst>
          </p:cNvPr>
          <p:cNvSpPr/>
          <p:nvPr/>
        </p:nvSpPr>
        <p:spPr>
          <a:xfrm>
            <a:off x="6755802" y="1344169"/>
            <a:ext cx="4518212" cy="252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7F78"/>
                </a:solidFill>
              </a:rPr>
              <a:t>Factores de comportamiento</a:t>
            </a:r>
            <a:endParaRPr lang="en-US" sz="18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946EEC6A-1115-0644-9106-75A90C58E98E}"/>
              </a:ext>
            </a:extLst>
          </p:cNvPr>
          <p:cNvSpPr/>
          <p:nvPr/>
        </p:nvSpPr>
        <p:spPr>
          <a:xfrm>
            <a:off x="812202" y="1622797"/>
            <a:ext cx="2409713" cy="27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7F78"/>
                </a:solidFill>
              </a:rPr>
              <a:t>Cantidad de trabajo</a:t>
            </a:r>
            <a:endParaRPr lang="en-US" sz="16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4E54090E-4CE9-7812-C6DC-263F47696CAB}"/>
              </a:ext>
            </a:extLst>
          </p:cNvPr>
          <p:cNvSpPr/>
          <p:nvPr/>
        </p:nvSpPr>
        <p:spPr>
          <a:xfrm>
            <a:off x="958506" y="1933693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Tareas pendientes reiteradas</a:t>
            </a:r>
            <a:endParaRPr lang="en-US" sz="116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44492906-43C2-8985-78F3-EBB41A974D1D}"/>
              </a:ext>
            </a:extLst>
          </p:cNvPr>
          <p:cNvSpPr/>
          <p:nvPr/>
        </p:nvSpPr>
        <p:spPr>
          <a:xfrm>
            <a:off x="958506" y="2162293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Incumplimiento frecuente de plazos</a:t>
            </a:r>
            <a:endParaRPr lang="en-US" sz="116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1DA07C97-EA22-F8D3-2E7D-3BF6B68D8888}"/>
              </a:ext>
            </a:extLst>
          </p:cNvPr>
          <p:cNvSpPr/>
          <p:nvPr/>
        </p:nvSpPr>
        <p:spPr>
          <a:xfrm>
            <a:off x="958506" y="2390893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Retraso en trámites o gestiones</a:t>
            </a:r>
            <a:endParaRPr lang="en-US" sz="116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D3EAE4B9-DF17-BBFE-A484-D4819A46533C}"/>
              </a:ext>
            </a:extLst>
          </p:cNvPr>
          <p:cNvSpPr/>
          <p:nvPr/>
        </p:nvSpPr>
        <p:spPr>
          <a:xfrm>
            <a:off x="958506" y="2619493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Necesidad constante de apoyo</a:t>
            </a:r>
            <a:endParaRPr lang="en-US" sz="1160" dirty="0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7F2D77C0-A779-4001-E788-05CF1E27F7D5}"/>
              </a:ext>
            </a:extLst>
          </p:cNvPr>
          <p:cNvSpPr/>
          <p:nvPr/>
        </p:nvSpPr>
        <p:spPr>
          <a:xfrm>
            <a:off x="812201" y="2858838"/>
            <a:ext cx="2409713" cy="27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7F78"/>
                </a:solidFill>
              </a:rPr>
              <a:t>Calidad de trabajo</a:t>
            </a:r>
            <a:endParaRPr lang="en-US" sz="1600" dirty="0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7EDF162E-56B2-FE8B-3025-F53392344BF6}"/>
              </a:ext>
            </a:extLst>
          </p:cNvPr>
          <p:cNvSpPr/>
          <p:nvPr/>
        </p:nvSpPr>
        <p:spPr>
          <a:xfrm>
            <a:off x="958506" y="3169734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Errores frecuentes en documentos</a:t>
            </a:r>
            <a:endParaRPr lang="en-US" sz="116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344F34E4-4515-0880-5E26-0A0037438DE4}"/>
              </a:ext>
            </a:extLst>
          </p:cNvPr>
          <p:cNvSpPr/>
          <p:nvPr/>
        </p:nvSpPr>
        <p:spPr>
          <a:xfrm>
            <a:off x="958506" y="3398334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Omisión de información relevante</a:t>
            </a:r>
            <a:endParaRPr lang="en-US" sz="116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DAE22FC2-FCEB-DF39-9196-EC78AF875085}"/>
              </a:ext>
            </a:extLst>
          </p:cNvPr>
          <p:cNvSpPr/>
          <p:nvPr/>
        </p:nvSpPr>
        <p:spPr>
          <a:xfrm>
            <a:off x="958506" y="3626934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Trabajo incompleto</a:t>
            </a:r>
            <a:endParaRPr lang="en-US" sz="116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8E434DA5-37CD-9191-A431-9B75409C5A01}"/>
              </a:ext>
            </a:extLst>
          </p:cNvPr>
          <p:cNvSpPr/>
          <p:nvPr/>
        </p:nvSpPr>
        <p:spPr>
          <a:xfrm>
            <a:off x="958506" y="3855534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Correcciones constantes</a:t>
            </a:r>
            <a:endParaRPr lang="en-US" sz="1160" dirty="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3D2D35C6-FC4D-5055-ED9E-DE68CC3D096A}"/>
              </a:ext>
            </a:extLst>
          </p:cNvPr>
          <p:cNvSpPr/>
          <p:nvPr/>
        </p:nvSpPr>
        <p:spPr>
          <a:xfrm>
            <a:off x="812202" y="4004958"/>
            <a:ext cx="2409713" cy="27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7F78"/>
                </a:solidFill>
              </a:rPr>
              <a:t>Conocimiento del trabajo</a:t>
            </a:r>
            <a:endParaRPr lang="en-US" sz="1600" dirty="0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D0E33722-A462-60EE-3687-AC0BB0393A27}"/>
              </a:ext>
            </a:extLst>
          </p:cNvPr>
          <p:cNvSpPr/>
          <p:nvPr/>
        </p:nvSpPr>
        <p:spPr>
          <a:xfrm>
            <a:off x="958506" y="4315854"/>
            <a:ext cx="3311344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Desconocimiento de </a:t>
            </a:r>
            <a:r>
              <a:rPr lang="en-US" sz="1160" dirty="0" err="1">
                <a:solidFill>
                  <a:srgbClr val="344054"/>
                </a:solidFill>
              </a:rPr>
              <a:t>procedimientos</a:t>
            </a:r>
            <a:r>
              <a:rPr lang="en-US" sz="1160" dirty="0">
                <a:solidFill>
                  <a:srgbClr val="344054"/>
                </a:solidFill>
              </a:rPr>
              <a:t> </a:t>
            </a:r>
            <a:r>
              <a:rPr lang="en-US" sz="1160" dirty="0" err="1">
                <a:solidFill>
                  <a:srgbClr val="344054"/>
                </a:solidFill>
              </a:rPr>
              <a:t>básicos</a:t>
            </a:r>
            <a:endParaRPr lang="en-US" sz="1160" dirty="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3D4EC84F-EBD5-2C95-72BE-11BFDE159253}"/>
              </a:ext>
            </a:extLst>
          </p:cNvPr>
          <p:cNvSpPr/>
          <p:nvPr/>
        </p:nvSpPr>
        <p:spPr>
          <a:xfrm>
            <a:off x="958506" y="4528547"/>
            <a:ext cx="2929682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Uso incorrecto de </a:t>
            </a:r>
            <a:r>
              <a:rPr lang="en-US" sz="1160" dirty="0" err="1">
                <a:solidFill>
                  <a:srgbClr val="344054"/>
                </a:solidFill>
              </a:rPr>
              <a:t>sistemas</a:t>
            </a:r>
            <a:r>
              <a:rPr lang="en-US" sz="1160" dirty="0">
                <a:solidFill>
                  <a:srgbClr val="344054"/>
                </a:solidFill>
              </a:rPr>
              <a:t> o </a:t>
            </a:r>
            <a:r>
              <a:rPr lang="en-US" sz="1160" dirty="0" err="1">
                <a:solidFill>
                  <a:srgbClr val="344054"/>
                </a:solidFill>
              </a:rPr>
              <a:t>formularios</a:t>
            </a:r>
            <a:endParaRPr lang="en-US" sz="116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D0043E8D-0985-3F67-755A-B2B667A427D0}"/>
              </a:ext>
            </a:extLst>
          </p:cNvPr>
          <p:cNvSpPr/>
          <p:nvPr/>
        </p:nvSpPr>
        <p:spPr>
          <a:xfrm>
            <a:off x="958506" y="475714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Errores por falta de manejo técnico</a:t>
            </a:r>
            <a:endParaRPr lang="en-US" sz="1160" dirty="0"/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812F9F48-FD7A-93B5-B827-9D2ADBFF8F01}"/>
              </a:ext>
            </a:extLst>
          </p:cNvPr>
          <p:cNvSpPr/>
          <p:nvPr/>
        </p:nvSpPr>
        <p:spPr>
          <a:xfrm>
            <a:off x="958506" y="498574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Baja autonomía en tareas habituales</a:t>
            </a:r>
            <a:endParaRPr lang="en-US" sz="1160" dirty="0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9D273B92-C2C2-0DB4-E987-8A948D2CBE0F}"/>
              </a:ext>
            </a:extLst>
          </p:cNvPr>
          <p:cNvSpPr/>
          <p:nvPr/>
        </p:nvSpPr>
        <p:spPr>
          <a:xfrm>
            <a:off x="812202" y="5319016"/>
            <a:ext cx="2409713" cy="27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7F78"/>
                </a:solidFill>
              </a:rPr>
              <a:t>Interés por el trabajo</a:t>
            </a:r>
            <a:endParaRPr lang="en-US" sz="1600" dirty="0"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90B462B1-5D34-EEF8-E62B-2A2EB85A4FF8}"/>
              </a:ext>
            </a:extLst>
          </p:cNvPr>
          <p:cNvSpPr/>
          <p:nvPr/>
        </p:nvSpPr>
        <p:spPr>
          <a:xfrm>
            <a:off x="958506" y="5629912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Desinterés frente a sus funciones</a:t>
            </a:r>
            <a:endParaRPr lang="en-US" sz="1160" dirty="0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F350CCBC-C573-89C0-EE08-A44842E36DCB}"/>
              </a:ext>
            </a:extLst>
          </p:cNvPr>
          <p:cNvSpPr/>
          <p:nvPr/>
        </p:nvSpPr>
        <p:spPr>
          <a:xfrm>
            <a:off x="958506" y="5858512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Falta de iniciativa</a:t>
            </a:r>
            <a:endParaRPr lang="en-US" sz="1160" dirty="0"/>
          </a:p>
        </p:txBody>
      </p:sp>
      <p:sp>
        <p:nvSpPr>
          <p:cNvPr id="64" name="Text 39">
            <a:extLst>
              <a:ext uri="{FF2B5EF4-FFF2-40B4-BE49-F238E27FC236}">
                <a16:creationId xmlns:a16="http://schemas.microsoft.com/office/drawing/2014/main" id="{76CDFDAF-E71B-AA35-63CB-377E895F348E}"/>
              </a:ext>
            </a:extLst>
          </p:cNvPr>
          <p:cNvSpPr/>
          <p:nvPr/>
        </p:nvSpPr>
        <p:spPr>
          <a:xfrm>
            <a:off x="958506" y="6087112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Necesidad de insistencia constante</a:t>
            </a:r>
            <a:endParaRPr lang="en-US" sz="1160" dirty="0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794D4E07-8B9C-E23B-A98D-8253725CBA45}"/>
              </a:ext>
            </a:extLst>
          </p:cNvPr>
          <p:cNvSpPr/>
          <p:nvPr/>
        </p:nvSpPr>
        <p:spPr>
          <a:xfrm>
            <a:off x="958506" y="6315712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Escasa disposición a colaborar</a:t>
            </a:r>
            <a:endParaRPr lang="en-US" sz="116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AF3AEE9E-7857-EE28-2175-D67C35A4A1D9}"/>
              </a:ext>
            </a:extLst>
          </p:cNvPr>
          <p:cNvSpPr/>
          <p:nvPr/>
        </p:nvSpPr>
        <p:spPr>
          <a:xfrm>
            <a:off x="6755802" y="1554481"/>
            <a:ext cx="2409713" cy="27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7F78"/>
                </a:solidFill>
              </a:rPr>
              <a:t>Trabajo en grupo</a:t>
            </a:r>
            <a:endParaRPr lang="en-US" sz="1600" dirty="0"/>
          </a:p>
        </p:txBody>
      </p:sp>
      <p:sp>
        <p:nvSpPr>
          <p:cNvPr id="68" name="Shape 43">
            <a:extLst>
              <a:ext uri="{FF2B5EF4-FFF2-40B4-BE49-F238E27FC236}">
                <a16:creationId xmlns:a16="http://schemas.microsoft.com/office/drawing/2014/main" id="{D35FA16C-A172-0D9F-2921-1F77B5D3FB5C}"/>
              </a:ext>
            </a:extLst>
          </p:cNvPr>
          <p:cNvSpPr/>
          <p:nvPr/>
        </p:nvSpPr>
        <p:spPr>
          <a:xfrm>
            <a:off x="6755802" y="1911097"/>
            <a:ext cx="68849" cy="72067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Text 44">
            <a:extLst>
              <a:ext uri="{FF2B5EF4-FFF2-40B4-BE49-F238E27FC236}">
                <a16:creationId xmlns:a16="http://schemas.microsoft.com/office/drawing/2014/main" id="{86EC9073-DBFD-B94E-D908-6F64A2719B0E}"/>
              </a:ext>
            </a:extLst>
          </p:cNvPr>
          <p:cNvSpPr/>
          <p:nvPr/>
        </p:nvSpPr>
        <p:spPr>
          <a:xfrm>
            <a:off x="6902106" y="1865377"/>
            <a:ext cx="3092684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Dificultades de coordinación con </a:t>
            </a:r>
            <a:r>
              <a:rPr lang="en-US" sz="1160" dirty="0" err="1">
                <a:solidFill>
                  <a:srgbClr val="344054"/>
                </a:solidFill>
              </a:rPr>
              <a:t>el</a:t>
            </a:r>
            <a:r>
              <a:rPr lang="en-US" sz="1160" dirty="0">
                <a:solidFill>
                  <a:srgbClr val="344054"/>
                </a:solidFill>
              </a:rPr>
              <a:t> </a:t>
            </a:r>
            <a:r>
              <a:rPr lang="en-US" sz="1160" dirty="0" err="1">
                <a:solidFill>
                  <a:srgbClr val="344054"/>
                </a:solidFill>
              </a:rPr>
              <a:t>equipo</a:t>
            </a:r>
            <a:endParaRPr lang="en-US" sz="1160" dirty="0"/>
          </a:p>
        </p:txBody>
      </p:sp>
      <p:sp>
        <p:nvSpPr>
          <p:cNvPr id="70" name="Shape 45">
            <a:extLst>
              <a:ext uri="{FF2B5EF4-FFF2-40B4-BE49-F238E27FC236}">
                <a16:creationId xmlns:a16="http://schemas.microsoft.com/office/drawing/2014/main" id="{AE676A12-2507-F71A-B188-6E733F002BDD}"/>
              </a:ext>
            </a:extLst>
          </p:cNvPr>
          <p:cNvSpPr/>
          <p:nvPr/>
        </p:nvSpPr>
        <p:spPr>
          <a:xfrm>
            <a:off x="6755802" y="2139697"/>
            <a:ext cx="68849" cy="72067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Text 46">
            <a:extLst>
              <a:ext uri="{FF2B5EF4-FFF2-40B4-BE49-F238E27FC236}">
                <a16:creationId xmlns:a16="http://schemas.microsoft.com/office/drawing/2014/main" id="{D6E90F48-C4DE-616C-749F-2439EDFB0D93}"/>
              </a:ext>
            </a:extLst>
          </p:cNvPr>
          <p:cNvSpPr/>
          <p:nvPr/>
        </p:nvSpPr>
        <p:spPr>
          <a:xfrm>
            <a:off x="6902106" y="209397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Falta de colaboración</a:t>
            </a:r>
            <a:endParaRPr lang="en-US" sz="1160" dirty="0"/>
          </a:p>
        </p:txBody>
      </p:sp>
      <p:sp>
        <p:nvSpPr>
          <p:cNvPr id="72" name="Shape 47">
            <a:extLst>
              <a:ext uri="{FF2B5EF4-FFF2-40B4-BE49-F238E27FC236}">
                <a16:creationId xmlns:a16="http://schemas.microsoft.com/office/drawing/2014/main" id="{E2E902F1-5B76-8ED6-7941-E270D4ED8D52}"/>
              </a:ext>
            </a:extLst>
          </p:cNvPr>
          <p:cNvSpPr/>
          <p:nvPr/>
        </p:nvSpPr>
        <p:spPr>
          <a:xfrm>
            <a:off x="6755802" y="2368297"/>
            <a:ext cx="68849" cy="72067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Text 48">
            <a:extLst>
              <a:ext uri="{FF2B5EF4-FFF2-40B4-BE49-F238E27FC236}">
                <a16:creationId xmlns:a16="http://schemas.microsoft.com/office/drawing/2014/main" id="{EE43F3A8-1F66-BAEA-CA5D-2ECBB3DF0BBF}"/>
              </a:ext>
            </a:extLst>
          </p:cNvPr>
          <p:cNvSpPr/>
          <p:nvPr/>
        </p:nvSpPr>
        <p:spPr>
          <a:xfrm>
            <a:off x="6902106" y="232257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Conflictos frecuentes</a:t>
            </a:r>
            <a:endParaRPr lang="en-US" sz="1160" dirty="0"/>
          </a:p>
        </p:txBody>
      </p:sp>
      <p:sp>
        <p:nvSpPr>
          <p:cNvPr id="74" name="Shape 49">
            <a:extLst>
              <a:ext uri="{FF2B5EF4-FFF2-40B4-BE49-F238E27FC236}">
                <a16:creationId xmlns:a16="http://schemas.microsoft.com/office/drawing/2014/main" id="{953CAB65-EA9F-A8CA-E061-9B8E809E00FC}"/>
              </a:ext>
            </a:extLst>
          </p:cNvPr>
          <p:cNvSpPr/>
          <p:nvPr/>
        </p:nvSpPr>
        <p:spPr>
          <a:xfrm>
            <a:off x="6755802" y="2596897"/>
            <a:ext cx="68849" cy="72067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ext 50">
            <a:extLst>
              <a:ext uri="{FF2B5EF4-FFF2-40B4-BE49-F238E27FC236}">
                <a16:creationId xmlns:a16="http://schemas.microsoft.com/office/drawing/2014/main" id="{DE1F2E40-1496-6CCF-0DD3-F736C8E3D1DF}"/>
              </a:ext>
            </a:extLst>
          </p:cNvPr>
          <p:cNvSpPr/>
          <p:nvPr/>
        </p:nvSpPr>
        <p:spPr>
          <a:xfrm>
            <a:off x="6902106" y="255117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No compartir información necesaria</a:t>
            </a:r>
            <a:endParaRPr lang="en-US" sz="1160" dirty="0"/>
          </a:p>
        </p:txBody>
      </p:sp>
      <p:sp>
        <p:nvSpPr>
          <p:cNvPr id="76" name="Text 51">
            <a:extLst>
              <a:ext uri="{FF2B5EF4-FFF2-40B4-BE49-F238E27FC236}">
                <a16:creationId xmlns:a16="http://schemas.microsoft.com/office/drawing/2014/main" id="{9C0CECB7-4896-44F0-7274-FCD5C2830D5C}"/>
              </a:ext>
            </a:extLst>
          </p:cNvPr>
          <p:cNvSpPr/>
          <p:nvPr/>
        </p:nvSpPr>
        <p:spPr>
          <a:xfrm>
            <a:off x="6755802" y="2880361"/>
            <a:ext cx="2409713" cy="27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7F78"/>
                </a:solidFill>
              </a:rPr>
              <a:t>Asistencia y puntualidad</a:t>
            </a:r>
            <a:endParaRPr lang="en-US" sz="1600" dirty="0"/>
          </a:p>
        </p:txBody>
      </p:sp>
      <p:sp>
        <p:nvSpPr>
          <p:cNvPr id="77" name="Shape 52">
            <a:extLst>
              <a:ext uri="{FF2B5EF4-FFF2-40B4-BE49-F238E27FC236}">
                <a16:creationId xmlns:a16="http://schemas.microsoft.com/office/drawing/2014/main" id="{EF5DE8E0-BFEF-CFEE-6D8B-21D3C9BBA1B8}"/>
              </a:ext>
            </a:extLst>
          </p:cNvPr>
          <p:cNvSpPr/>
          <p:nvPr/>
        </p:nvSpPr>
        <p:spPr>
          <a:xfrm>
            <a:off x="6755802" y="3236977"/>
            <a:ext cx="68849" cy="72067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8" name="Text 53">
            <a:extLst>
              <a:ext uri="{FF2B5EF4-FFF2-40B4-BE49-F238E27FC236}">
                <a16:creationId xmlns:a16="http://schemas.microsoft.com/office/drawing/2014/main" id="{C9CD7DCC-609A-859E-1917-81B6C4CBBCC0}"/>
              </a:ext>
            </a:extLst>
          </p:cNvPr>
          <p:cNvSpPr/>
          <p:nvPr/>
        </p:nvSpPr>
        <p:spPr>
          <a:xfrm>
            <a:off x="6902106" y="319125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Atrasos reiterados al inicio de la jornada</a:t>
            </a:r>
            <a:endParaRPr lang="en-US" sz="1160" dirty="0"/>
          </a:p>
        </p:txBody>
      </p:sp>
      <p:sp>
        <p:nvSpPr>
          <p:cNvPr id="79" name="Shape 54">
            <a:extLst>
              <a:ext uri="{FF2B5EF4-FFF2-40B4-BE49-F238E27FC236}">
                <a16:creationId xmlns:a16="http://schemas.microsoft.com/office/drawing/2014/main" id="{544A8355-4E97-4184-1215-868D1EE702D5}"/>
              </a:ext>
            </a:extLst>
          </p:cNvPr>
          <p:cNvSpPr/>
          <p:nvPr/>
        </p:nvSpPr>
        <p:spPr>
          <a:xfrm>
            <a:off x="6755802" y="3465577"/>
            <a:ext cx="68849" cy="72067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9EED7131-4811-99E3-32AE-63470B984DC2}"/>
              </a:ext>
            </a:extLst>
          </p:cNvPr>
          <p:cNvSpPr/>
          <p:nvPr/>
        </p:nvSpPr>
        <p:spPr>
          <a:xfrm>
            <a:off x="6902106" y="341985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Retorno tardío de colación</a:t>
            </a:r>
            <a:endParaRPr lang="en-US" sz="1160" dirty="0"/>
          </a:p>
        </p:txBody>
      </p:sp>
      <p:sp>
        <p:nvSpPr>
          <p:cNvPr id="81" name="Shape 56">
            <a:extLst>
              <a:ext uri="{FF2B5EF4-FFF2-40B4-BE49-F238E27FC236}">
                <a16:creationId xmlns:a16="http://schemas.microsoft.com/office/drawing/2014/main" id="{4EB4EC1B-95ED-31C1-DFEF-0A6EDB5BECE7}"/>
              </a:ext>
            </a:extLst>
          </p:cNvPr>
          <p:cNvSpPr/>
          <p:nvPr/>
        </p:nvSpPr>
        <p:spPr>
          <a:xfrm>
            <a:off x="6755802" y="3694177"/>
            <a:ext cx="68849" cy="72067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2" name="Text 57">
            <a:extLst>
              <a:ext uri="{FF2B5EF4-FFF2-40B4-BE49-F238E27FC236}">
                <a16:creationId xmlns:a16="http://schemas.microsoft.com/office/drawing/2014/main" id="{2F245870-2EEC-6FAC-3F1E-E8C6826EAC9F}"/>
              </a:ext>
            </a:extLst>
          </p:cNvPr>
          <p:cNvSpPr/>
          <p:nvPr/>
        </p:nvSpPr>
        <p:spPr>
          <a:xfrm>
            <a:off x="6902106" y="364845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Ausencias injustificadas</a:t>
            </a:r>
            <a:endParaRPr lang="en-US" sz="1160" dirty="0"/>
          </a:p>
        </p:txBody>
      </p:sp>
      <p:sp>
        <p:nvSpPr>
          <p:cNvPr id="83" name="Shape 58">
            <a:extLst>
              <a:ext uri="{FF2B5EF4-FFF2-40B4-BE49-F238E27FC236}">
                <a16:creationId xmlns:a16="http://schemas.microsoft.com/office/drawing/2014/main" id="{CD2D8AC9-373A-2293-634D-5DC8EF7A8C56}"/>
              </a:ext>
            </a:extLst>
          </p:cNvPr>
          <p:cNvSpPr/>
          <p:nvPr/>
        </p:nvSpPr>
        <p:spPr>
          <a:xfrm>
            <a:off x="6755802" y="3922777"/>
            <a:ext cx="68849" cy="72067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4" name="Text 59">
            <a:extLst>
              <a:ext uri="{FF2B5EF4-FFF2-40B4-BE49-F238E27FC236}">
                <a16:creationId xmlns:a16="http://schemas.microsoft.com/office/drawing/2014/main" id="{E99EC96D-C4BA-24B6-4451-BF5BDC5C54A3}"/>
              </a:ext>
            </a:extLst>
          </p:cNvPr>
          <p:cNvSpPr/>
          <p:nvPr/>
        </p:nvSpPr>
        <p:spPr>
          <a:xfrm>
            <a:off x="6902106" y="387705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Salidas anticipadas sin autorización</a:t>
            </a:r>
            <a:endParaRPr lang="en-US" sz="1160" dirty="0"/>
          </a:p>
        </p:txBody>
      </p:sp>
      <p:sp>
        <p:nvSpPr>
          <p:cNvPr id="85" name="Text 60">
            <a:extLst>
              <a:ext uri="{FF2B5EF4-FFF2-40B4-BE49-F238E27FC236}">
                <a16:creationId xmlns:a16="http://schemas.microsoft.com/office/drawing/2014/main" id="{A88592BC-F6C9-F502-117A-F3E140627E0B}"/>
              </a:ext>
            </a:extLst>
          </p:cNvPr>
          <p:cNvSpPr/>
          <p:nvPr/>
        </p:nvSpPr>
        <p:spPr>
          <a:xfrm>
            <a:off x="6755802" y="4389121"/>
            <a:ext cx="2409713" cy="27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7F78"/>
                </a:solidFill>
              </a:rPr>
              <a:t>Normas o instrucciones</a:t>
            </a:r>
            <a:endParaRPr lang="en-US" sz="1600" dirty="0"/>
          </a:p>
        </p:txBody>
      </p:sp>
      <p:sp>
        <p:nvSpPr>
          <p:cNvPr id="87" name="Text 62">
            <a:extLst>
              <a:ext uri="{FF2B5EF4-FFF2-40B4-BE49-F238E27FC236}">
                <a16:creationId xmlns:a16="http://schemas.microsoft.com/office/drawing/2014/main" id="{216939EB-0F44-8A25-12AB-8F8B54786700}"/>
              </a:ext>
            </a:extLst>
          </p:cNvPr>
          <p:cNvSpPr/>
          <p:nvPr/>
        </p:nvSpPr>
        <p:spPr>
          <a:xfrm>
            <a:off x="6902106" y="4700017"/>
            <a:ext cx="3013171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Incumplimiento de </a:t>
            </a:r>
            <a:r>
              <a:rPr lang="en-US" sz="1160" dirty="0" err="1">
                <a:solidFill>
                  <a:srgbClr val="344054"/>
                </a:solidFill>
              </a:rPr>
              <a:t>instrucciones</a:t>
            </a:r>
            <a:r>
              <a:rPr lang="en-US" sz="1160" dirty="0">
                <a:solidFill>
                  <a:srgbClr val="344054"/>
                </a:solidFill>
              </a:rPr>
              <a:t> de </a:t>
            </a:r>
            <a:r>
              <a:rPr lang="en-US" sz="1160" dirty="0" err="1">
                <a:solidFill>
                  <a:srgbClr val="344054"/>
                </a:solidFill>
              </a:rPr>
              <a:t>jefatura</a:t>
            </a:r>
            <a:endParaRPr lang="en-US" sz="1160" dirty="0"/>
          </a:p>
        </p:txBody>
      </p:sp>
      <p:sp>
        <p:nvSpPr>
          <p:cNvPr id="89" name="Text 64">
            <a:extLst>
              <a:ext uri="{FF2B5EF4-FFF2-40B4-BE49-F238E27FC236}">
                <a16:creationId xmlns:a16="http://schemas.microsoft.com/office/drawing/2014/main" id="{7DA4F6BB-05FD-73C9-6D22-06059FEE637F}"/>
              </a:ext>
            </a:extLst>
          </p:cNvPr>
          <p:cNvSpPr/>
          <p:nvPr/>
        </p:nvSpPr>
        <p:spPr>
          <a:xfrm>
            <a:off x="6902106" y="4928617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Falta de apego a protocolos</a:t>
            </a:r>
            <a:endParaRPr lang="en-US" sz="1160" dirty="0"/>
          </a:p>
        </p:txBody>
      </p:sp>
      <p:sp>
        <p:nvSpPr>
          <p:cNvPr id="91" name="Text 66">
            <a:extLst>
              <a:ext uri="{FF2B5EF4-FFF2-40B4-BE49-F238E27FC236}">
                <a16:creationId xmlns:a16="http://schemas.microsoft.com/office/drawing/2014/main" id="{62995D58-9573-2AEE-98ED-579F59A48B9F}"/>
              </a:ext>
            </a:extLst>
          </p:cNvPr>
          <p:cNvSpPr/>
          <p:nvPr/>
        </p:nvSpPr>
        <p:spPr>
          <a:xfrm>
            <a:off x="6902106" y="5157217"/>
            <a:ext cx="4371908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Omisión de </a:t>
            </a:r>
            <a:r>
              <a:rPr lang="en-US" sz="1160" dirty="0" err="1">
                <a:solidFill>
                  <a:srgbClr val="344054"/>
                </a:solidFill>
              </a:rPr>
              <a:t>tareas</a:t>
            </a:r>
            <a:r>
              <a:rPr lang="en-US" sz="1160" dirty="0">
                <a:solidFill>
                  <a:srgbClr val="344054"/>
                </a:solidFill>
              </a:rPr>
              <a:t> </a:t>
            </a:r>
            <a:r>
              <a:rPr lang="en-US" sz="1160" dirty="0" err="1">
                <a:solidFill>
                  <a:srgbClr val="344054"/>
                </a:solidFill>
              </a:rPr>
              <a:t>encomendadas</a:t>
            </a:r>
            <a:r>
              <a:rPr lang="en-US" sz="1160" dirty="0">
                <a:solidFill>
                  <a:srgbClr val="344054"/>
                </a:solidFill>
              </a:rPr>
              <a:t> </a:t>
            </a:r>
            <a:endParaRPr lang="en-US" sz="1160" dirty="0"/>
          </a:p>
        </p:txBody>
      </p:sp>
      <p:sp>
        <p:nvSpPr>
          <p:cNvPr id="93" name="Text 68">
            <a:extLst>
              <a:ext uri="{FF2B5EF4-FFF2-40B4-BE49-F238E27FC236}">
                <a16:creationId xmlns:a16="http://schemas.microsoft.com/office/drawing/2014/main" id="{BD89B848-CCCB-CC93-1D4F-C9ADDF807236}"/>
              </a:ext>
            </a:extLst>
          </p:cNvPr>
          <p:cNvSpPr/>
          <p:nvPr/>
        </p:nvSpPr>
        <p:spPr>
          <a:xfrm>
            <a:off x="6902105" y="5484908"/>
            <a:ext cx="2538805" cy="19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344054"/>
                </a:solidFill>
              </a:rPr>
              <a:t>Reiteración de incumplimientos observados</a:t>
            </a:r>
            <a:endParaRPr lang="en-US" sz="1160" dirty="0"/>
          </a:p>
        </p:txBody>
      </p:sp>
    </p:spTree>
    <p:extLst>
      <p:ext uri="{BB962C8B-B14F-4D97-AF65-F5344CB8AC3E}">
        <p14:creationId xmlns:p14="http://schemas.microsoft.com/office/powerpoint/2010/main" val="2305424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54157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Uso del formato de retroalimentación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La retroalimentación respalda la evaluación y orienta la mejora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1783080"/>
            <a:ext cx="4663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188720" y="20391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Debe registrar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52144" y="2331720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371600" y="22677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Metas o indicadores revisados.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1152144" y="2807208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Fortalezas observadas.</a:t>
            </a:r>
            <a:endParaRPr lang="en-US" sz="1520" dirty="0"/>
          </a:p>
        </p:txBody>
      </p:sp>
      <p:sp>
        <p:nvSpPr>
          <p:cNvPr id="10" name="Shape 8"/>
          <p:cNvSpPr/>
          <p:nvPr/>
        </p:nvSpPr>
        <p:spPr>
          <a:xfrm>
            <a:off x="1152144" y="3282696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371600" y="32186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Oportunidades de mejora.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1152144" y="3758184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371600" y="36941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Acciones sugeridas o recursos de apoyo.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1152144" y="4233672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Compromisos con responsable y plazo.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1152144" y="4709160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371600" y="46451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Comentarios del funcionario.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1152144" y="5184648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371600" y="51206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Fecha de seguimiento.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5806440" y="178308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126480" y="20391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Finalidad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26480" y="249631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11A37"/>
                </a:solidFill>
              </a:rPr>
              <a:t>La retroalimentación no reemplaza la evaluación.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111A37"/>
                </a:solidFill>
              </a:rPr>
              <a:t>La complementa, la fundamenta y deja trazabilidad</a:t>
            </a:r>
            <a:endParaRPr lang="en-US" sz="1850" dirty="0"/>
          </a:p>
          <a:p>
            <a:pPr marL="0" indent="0">
              <a:buNone/>
            </a:pPr>
            <a:r>
              <a:rPr lang="en-US" sz="1850" b="1" dirty="0">
                <a:solidFill>
                  <a:srgbClr val="111A37"/>
                </a:solidFill>
              </a:rPr>
              <a:t>del proceso realizado por la jefatura.</a:t>
            </a:r>
            <a:endParaRPr lang="en-US" sz="1850" dirty="0"/>
          </a:p>
        </p:txBody>
      </p:sp>
      <p:sp>
        <p:nvSpPr>
          <p:cNvPr id="23" name="Shape 21"/>
          <p:cNvSpPr/>
          <p:nvPr/>
        </p:nvSpPr>
        <p:spPr>
          <a:xfrm>
            <a:off x="6126480" y="3721608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345936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Fundamentar la apreciación del período.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126480" y="4251960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345936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Orientar acciones de mejora concretas.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126480" y="4782312"/>
            <a:ext cx="146304" cy="146304"/>
          </a:xfrm>
          <a:prstGeom prst="ellipse">
            <a:avLst/>
          </a:prstGeom>
          <a:solidFill>
            <a:srgbClr val="21B2A8"/>
          </a:solidFill>
          <a:ln w="12700">
            <a:solidFill>
              <a:srgbClr val="21B2A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6345936" y="47183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344054"/>
                </a:solidFill>
              </a:rPr>
              <a:t>Dejar evidencia del diálogo con el funcionario.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CE91-C0E9-0DCB-28C1-C431B956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CEFC8E-84AB-2A20-DD7C-97EB0CE436C1}"/>
              </a:ext>
            </a:extLst>
          </p:cNvPr>
          <p:cNvSpPr/>
          <p:nvPr/>
        </p:nvSpPr>
        <p:spPr>
          <a:xfrm>
            <a:off x="822960" y="954157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Uso del formato de retroalimentación</a:t>
            </a:r>
            <a:endParaRPr lang="en-US" sz="2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5677298-9B66-5B30-140D-F34B328CBAFF}"/>
              </a:ext>
            </a:extLst>
          </p:cNvPr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56B45A8-12BB-04AD-A0FE-519C4CDD3457}"/>
              </a:ext>
            </a:extLst>
          </p:cNvPr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B68CA31-1809-C859-12CE-C582E47F4545}"/>
              </a:ext>
            </a:extLst>
          </p:cNvPr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9</a:t>
            </a:r>
            <a:endParaRPr lang="en-US" sz="10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CD6A28E7-0BD3-93F6-D40E-5693696D5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01" y="1822837"/>
            <a:ext cx="4858768" cy="4815707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D224EC12-48FB-3B1B-09BC-C8B7780DD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372" y="2083785"/>
            <a:ext cx="6039693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6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7FA55-A674-1343-E7BE-83DAEBC8C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8C2B9A-C2CA-326E-4F4C-FFA327E195E7}"/>
              </a:ext>
            </a:extLst>
          </p:cNvPr>
          <p:cNvSpPr/>
          <p:nvPr/>
        </p:nvSpPr>
        <p:spPr>
          <a:xfrm>
            <a:off x="822960" y="954157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Uso del formato de retroalimentación</a:t>
            </a:r>
            <a:endParaRPr lang="en-US" sz="28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1BEB3E9-70C2-C3ED-EBDE-62AC03F12005}"/>
              </a:ext>
            </a:extLst>
          </p:cNvPr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9</a:t>
            </a:r>
            <a:endParaRPr lang="en-US" sz="1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8CC1F6-B107-79EC-25E6-6C367E02F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94" y="1942107"/>
            <a:ext cx="5390165" cy="427581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455BA3B-66F3-4531-CBE5-56EBABBC6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704" y="1350728"/>
            <a:ext cx="5526024" cy="529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06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FBED8-670C-A0AB-B913-FF4550EA0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DFF297-0A9E-0ACE-BC7C-C34CF8DD1C81}"/>
              </a:ext>
            </a:extLst>
          </p:cNvPr>
          <p:cNvSpPr/>
          <p:nvPr/>
        </p:nvSpPr>
        <p:spPr>
          <a:xfrm>
            <a:off x="822960" y="954157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Uso del formato de retroalimentación</a:t>
            </a:r>
            <a:endParaRPr lang="en-US" sz="28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4102D30-35A8-D356-7F01-2E85A7152846}"/>
              </a:ext>
            </a:extLst>
          </p:cNvPr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9</a:t>
            </a:r>
            <a:endParaRPr lang="en-US" sz="1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F8AC88-DA8B-0683-4E6E-A87446152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033" y="865588"/>
            <a:ext cx="6058746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97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A37"/>
                </a:solidFill>
              </a:rPr>
              <a:t>Errores que debemos evitar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</a:rPr>
              <a:t>Prácticas que debilitan el proceso evaluativo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8680" y="1847088"/>
            <a:ext cx="10058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5DDDA"/>
            </a:solidFill>
            <a:prstDash val="solid"/>
          </a:ln>
          <a:effectLst>
            <a:outerShdw blurRad="25400" dist="50800" dir="2700000" algn="bl" rotWithShape="0">
              <a:srgbClr val="B7C4C0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7F78"/>
                </a:solidFill>
              </a:rPr>
              <a:t>Evitar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70432" y="2615184"/>
            <a:ext cx="164592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1335024" y="2615184"/>
            <a:ext cx="0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463040" y="2514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Evaluar por percepción personal.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70432" y="3529584"/>
            <a:ext cx="164592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1335024" y="3529584"/>
            <a:ext cx="0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463040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Usar conceptos vagos sin explicación.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70432" y="4443984"/>
            <a:ext cx="164592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1335024" y="4443984"/>
            <a:ext cx="0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463040" y="4343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Calificar sin ejemplos o evidencia.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615184"/>
            <a:ext cx="164592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291072" y="2615184"/>
            <a:ext cx="0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419088" y="2514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Concentrarse solo en hechos recientes.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3529584"/>
            <a:ext cx="164592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291072" y="3529584"/>
            <a:ext cx="0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419088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Omitir la retroalimentación al funcionario.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26480" y="4443984"/>
            <a:ext cx="164592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6291072" y="4443984"/>
            <a:ext cx="0" cy="164592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419088" y="4343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44054"/>
                </a:solidFill>
              </a:rPr>
              <a:t>No dejar compromisos ni seguimiento.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606247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37"/>
                </a:solidFill>
              </a:rPr>
              <a:t>Hospital de Curepto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6318504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Proceso de evaluación 2025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457432" y="64739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D8CF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827</Words>
  <Application>Microsoft Office PowerPoint</Application>
  <PresentationFormat>Panorámica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Aptos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para Jefaturas</dc:title>
  <dc:subject>Objetivación del Informe de Desempeño y Retroalimentación Funcionaria</dc:subject>
  <dc:creator>OpenAI</dc:creator>
  <cp:lastModifiedBy>Hospital CUREPTO Comunicaciones</cp:lastModifiedBy>
  <cp:revision>4</cp:revision>
  <dcterms:created xsi:type="dcterms:W3CDTF">2026-04-08T18:07:54Z</dcterms:created>
  <dcterms:modified xsi:type="dcterms:W3CDTF">2026-04-08T18:54:41Z</dcterms:modified>
</cp:coreProperties>
</file>